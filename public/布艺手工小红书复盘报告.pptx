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D40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E2D40"/>
                </a:solidFill>
                <a:latin typeface="Microsoft YaHei"/>
              </a:rPr>
              <a:t>月度总曝光量趋势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总曝光量</c:v>
                </c:pt>
              </c:strCache>
            </c:strRef>
          </c:tx>
          <c:spPr>
            <a:solidFill>
              <a:srgbClr val="1E2D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10月</c:v>
                  </c:pt>
                  <c:pt idx="1">
                    <c:v>11月</c:v>
                  </c:pt>
                  <c:pt idx="2">
                    <c:v>12月</c:v>
                  </c:pt>
                  <c:pt idx="3">
                    <c:v>1月</c:v>
                  </c:pt>
                  <c:pt idx="4">
                    <c:v>2月</c:v>
                  </c:pt>
                  <c:pt idx="5">
                    <c:v>3月</c:v>
                  </c:pt>
                  <c:pt idx="6">
                    <c:v>4月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13509</c:v>
                </c:pt>
                <c:pt idx="1">
                  <c:v>131077</c:v>
                </c:pt>
                <c:pt idx="2">
                  <c:v>38775</c:v>
                </c:pt>
                <c:pt idx="3">
                  <c:v>31007</c:v>
                </c:pt>
                <c:pt idx="4">
                  <c:v>14075</c:v>
                </c:pt>
                <c:pt idx="5">
                  <c:v>59548</c:v>
                </c:pt>
                <c:pt idx="6">
                  <c:v>3235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D40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E2D40"/>
                </a:solidFill>
                <a:latin typeface="Microsoft YaHei"/>
              </a:rPr>
              <a:t>月度涨粉数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涨粉数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10月</c:v>
                  </c:pt>
                  <c:pt idx="1">
                    <c:v>11月</c:v>
                  </c:pt>
                  <c:pt idx="2">
                    <c:v>12月</c:v>
                  </c:pt>
                  <c:pt idx="3">
                    <c:v>1月</c:v>
                  </c:pt>
                  <c:pt idx="4">
                    <c:v>2月</c:v>
                  </c:pt>
                  <c:pt idx="5">
                    <c:v>3月</c:v>
                  </c:pt>
                  <c:pt idx="6">
                    <c:v>4月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58</c:v>
                </c:pt>
                <c:pt idx="2">
                  <c:v>11</c:v>
                </c:pt>
                <c:pt idx="3">
                  <c:v>12</c:v>
                </c:pt>
                <c:pt idx="4">
                  <c:v>12</c:v>
                </c:pt>
                <c:pt idx="5">
                  <c:v>17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D40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E2D40"/>
                </a:solidFill>
                <a:latin typeface="Microsoft YaHei"/>
              </a:rPr>
              <a:t>平均曝光量对比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平均曝光</c:v>
                </c:pt>
              </c:strCache>
            </c:strRef>
          </c:tx>
          <c:spPr>
            <a:solidFill>
              <a:srgbClr val="1E2D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d4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视频(52篇)</c:v>
                  </c:pt>
                  <c:pt idx="1">
                    <c:v>图文(16篇)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4329</c:v>
                </c:pt>
                <c:pt idx="1">
                  <c:v>3861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D40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E2D40"/>
                </a:solidFill>
                <a:latin typeface="Microsoft YaHei"/>
              </a:rPr>
              <a:t>平均观看量对比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平均观看量</c:v>
                </c:pt>
              </c:strCache>
            </c:strRef>
          </c:tx>
          <c:spPr>
            <a:solidFill>
              <a:srgbClr val="2D4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4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视频(52篇)</c:v>
                  </c:pt>
                  <c:pt idx="1">
                    <c:v>图文(16篇)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1149</c:v>
                </c:pt>
                <c:pt idx="1">
                  <c:v>567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D40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E2D40"/>
                </a:solidFill>
                <a:latin typeface="Microsoft YaHei"/>
              </a:rPr>
              <a:t>互动构成（总计3,227次）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点赞 1,556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D40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E8A838"/>
              </a:solidFill>
              <a:effectLst/>
            </c:spPr>
          </c:dPt>
          <c:dPt>
            <c:idx val="3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点赞</c:v>
                </c:pt>
                <c:pt idx="1">
                  <c:v>收藏</c:v>
                </c:pt>
                <c:pt idx="2">
                  <c:v>评论</c:v>
                </c:pt>
                <c:pt idx="3">
                  <c:v>分享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1556</c:v>
                </c:pt>
                <c:pt idx="1">
                  <c:v>1263</c:v>
                </c:pt>
                <c:pt idx="2">
                  <c:v>276</c:v>
                </c:pt>
                <c:pt idx="3">
                  <c:v>132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D40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E2D40"/>
                </a:solidFill>
                <a:latin typeface="Microsoft YaHei"/>
              </a:rPr>
              <a:t>各时段平均曝光量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平均曝光</c:v>
                </c:pt>
              </c:strCache>
            </c:strRef>
          </c:tx>
          <c:spPr>
            <a:solidFill>
              <a:srgbClr val="2D4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9时</c:v>
                  </c:pt>
                  <c:pt idx="1">
                    <c:v>10时</c:v>
                  </c:pt>
                  <c:pt idx="2">
                    <c:v>11时</c:v>
                  </c:pt>
                  <c:pt idx="3">
                    <c:v>12时</c:v>
                  </c:pt>
                  <c:pt idx="4">
                    <c:v>13时</c:v>
                  </c:pt>
                  <c:pt idx="5">
                    <c:v>14时</c:v>
                  </c:pt>
                  <c:pt idx="6">
                    <c:v>15时</c:v>
                  </c:pt>
                  <c:pt idx="7">
                    <c:v>16时</c:v>
                  </c:pt>
                  <c:pt idx="8">
                    <c:v>17时</c:v>
                  </c:pt>
                  <c:pt idx="9">
                    <c:v>18时</c:v>
                  </c:pt>
                  <c:pt idx="10">
                    <c:v>19时</c:v>
                  </c:pt>
                  <c:pt idx="11">
                    <c:v>20时</c:v>
                  </c:pt>
                  <c:pt idx="12">
                    <c:v>21时</c:v>
                  </c:pt>
                  <c:pt idx="13">
                    <c:v>22时</c:v>
                  </c:pt>
                  <c:pt idx="14">
                    <c:v>23时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2308</c:v>
                </c:pt>
                <c:pt idx="1">
                  <c:v>4572</c:v>
                </c:pt>
                <c:pt idx="2">
                  <c:v>3103</c:v>
                </c:pt>
                <c:pt idx="3">
                  <c:v>2253</c:v>
                </c:pt>
                <c:pt idx="4">
                  <c:v>1709</c:v>
                </c:pt>
                <c:pt idx="5">
                  <c:v>1490</c:v>
                </c:pt>
                <c:pt idx="6">
                  <c:v>1413</c:v>
                </c:pt>
                <c:pt idx="7">
                  <c:v>3605</c:v>
                </c:pt>
                <c:pt idx="8">
                  <c:v>21174</c:v>
                </c:pt>
                <c:pt idx="9">
                  <c:v>20790</c:v>
                </c:pt>
                <c:pt idx="10">
                  <c:v>11204</c:v>
                </c:pt>
                <c:pt idx="11">
                  <c:v>2700</c:v>
                </c:pt>
                <c:pt idx="12">
                  <c:v>3358</c:v>
                </c:pt>
                <c:pt idx="13">
                  <c:v>3479</c:v>
                </c:pt>
                <c:pt idx="14">
                  <c:v>2953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39474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小红书布艺手工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布艺手工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C8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创作数据复盘报告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1148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69篇笔记 · 全维度数据洞察 · 增长策略优化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数据周期：2025年10月 — 2026年4月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报告目录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4996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数据概览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719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核心指标总览 · 整体运营成绩单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054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内容表现分析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7249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视频vs图文 · 爆款笔记解析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502920" cy="5029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5112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时间规律分析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307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最佳发布时段 · 月度趋势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502920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0680" y="14996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TOP榜单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1719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曝光/点击/涨粉三维TOP10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468880"/>
            <a:ext cx="502920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5054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优化建议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27249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3条数据驱动的可执行策略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3474720"/>
            <a:ext cx="502920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35112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37307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下阶段目标与执行路径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数据概览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2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651760" cy="73152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920240" y="1508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103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发布笔记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2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29.1万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103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总曝光量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20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6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4,221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772400" y="1508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平均曝光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2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265176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200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920240" y="34290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400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总涨粉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20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26080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200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1,556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846320" y="34290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总点赞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20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926080"/>
            <a:ext cx="265176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200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1,263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772400" y="34290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2648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总收藏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数据概览 · 月度趋势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760720" y="914400"/>
          <a:ext cx="3200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480560"/>
            <a:ext cx="8686800" cy="438912"/>
          </a:xfrm>
          <a:prstGeom prst="roundRect">
            <a:avLst>
              <a:gd name="adj" fmla="val 20833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449884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洞察：11月为发布高峰（27篇），曝光占全周期45%；3月爆款集中，平均曝光9,925是全年最高月份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9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3A5F80"/>
          </a:solidFill>
          <a:ln w="12700">
            <a:solidFill>
              <a:srgbClr val="3A5F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3A5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内容表现分析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27432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vs 图文  ·  体裁效率对比  ·  爆款内容共性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内容分析 · 视频 vs 图文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144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97764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3977640"/>
            <a:ext cx="1920240" cy="54864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2.15人/篇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274320" y="435254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视频涨粉效率 · 114粉 / 52篇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2423160" y="397764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423160" y="3977640"/>
            <a:ext cx="1920240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2316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0.06人/篇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423160" y="435254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图文涨粉效率 · 1粉 / 16篇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572000" y="397764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0" y="3977640"/>
            <a:ext cx="1920240" cy="54864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72000" y="435254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视频封面点击率 · 平均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720840" y="397764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20840" y="3977640"/>
            <a:ext cx="1920240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2084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720840" y="435254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图文封面点击率 · 平均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274320" y="4736592"/>
            <a:ext cx="8686800" cy="274320"/>
          </a:xfrm>
          <a:prstGeom prst="roundRect">
            <a:avLst>
              <a:gd name="adj" fmla="val 26667"/>
            </a:avLst>
          </a:prstGeom>
          <a:solidFill>
            <a:srgbClr val="FFF3CD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5760" y="474573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视频涨粉效率是图文的36倍（2.15 vs 0.06），视频是主要增粉引擎，应持续加大视频比例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5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内容分析 · 爆款特征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658368"/>
          </a:xfrm>
          <a:prstGeom prst="rect">
            <a:avLst/>
          </a:prstGeom>
          <a:solidFill>
            <a:srgbClr val="F0F7FF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502920" cy="65836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9875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不穿的毛衣剪两刀就变成保暖袜套了！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298448"/>
            <a:ext cx="1188720" cy="201168"/>
          </a:xfrm>
          <a:prstGeom prst="roundRect">
            <a:avLst>
              <a:gd name="adj" fmla="val 36364"/>
            </a:avLst>
          </a:prstGeom>
          <a:solidFill>
            <a:srgbClr val="E8F4FD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2984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改造+实用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0" y="10241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曝光 41,826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10241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涨粉 +1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691640"/>
            <a:ext cx="8686800" cy="658368"/>
          </a:xfrm>
          <a:prstGeom prst="rect">
            <a:avLst/>
          </a:prstGeom>
          <a:solidFill>
            <a:srgbClr val="F0F7FF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691640"/>
            <a:ext cx="502920" cy="65836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6916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17647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买了个美甲吸灰器用做缝纫机吸灰器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2075688"/>
            <a:ext cx="1188720" cy="201168"/>
          </a:xfrm>
          <a:prstGeom prst="roundRect">
            <a:avLst>
              <a:gd name="adj" fmla="val 36364"/>
            </a:avLst>
          </a:prstGeom>
          <a:solidFill>
            <a:srgbClr val="E8F4FD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0756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工具+新奇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35040" y="18013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曝光 34,093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1801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涨粉 +2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2468880"/>
            <a:ext cx="8686800" cy="658368"/>
          </a:xfrm>
          <a:prstGeom prst="rect">
            <a:avLst/>
          </a:prstGeom>
          <a:solidFill>
            <a:srgbClr val="F0F7FF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468880"/>
            <a:ext cx="502920" cy="65836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4688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25420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3分钟搞定春日布艺小花！小白也能轻松上手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2852928"/>
            <a:ext cx="1188720" cy="201168"/>
          </a:xfrm>
          <a:prstGeom prst="roundRect">
            <a:avLst>
              <a:gd name="adj" fmla="val 36364"/>
            </a:avLst>
          </a:prstGeom>
          <a:solidFill>
            <a:srgbClr val="E8F4FD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8529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教程+简单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35040" y="25786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曝光 20,790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25786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涨粉 +15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246120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246120"/>
            <a:ext cx="502920" cy="6583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2461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33192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布艺标记工具笔分享：水消笔热消笔热可擦笔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" y="3630168"/>
            <a:ext cx="1188720" cy="201168"/>
          </a:xfrm>
          <a:prstGeom prst="roundRect">
            <a:avLst>
              <a:gd name="adj" fmla="val 36364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6301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干货+工具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35040" y="33558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曝光 18,190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0" y="33558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涨粉 +10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4023360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4023360"/>
            <a:ext cx="502920" cy="6583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40233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22960" y="40965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新手邪修裁布之找平滑的枕头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2960" y="4407408"/>
            <a:ext cx="1188720" cy="201168"/>
          </a:xfrm>
          <a:prstGeom prst="roundRect">
            <a:avLst>
              <a:gd name="adj" fmla="val 36364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4074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新手向+方法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35040" y="4133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曝光 15,429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98080" y="4133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涨粉 +8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8600" y="4754880"/>
            <a:ext cx="8686800" cy="2286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64024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标题共性：  ① 具体时间/数量承诺（3分钟/30分钟）  ② 新手/小白/简单等降门槛词  ③ 改造/变废为宝的实用价值  ④ 感叹号制造情绪张力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内容分析 · 互动数据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00584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0" y="1005840"/>
            <a:ext cx="54864" cy="713232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37760" y="1078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👍 点赞占比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0" y="10789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48.2%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754880" y="1847088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847088"/>
            <a:ext cx="54864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收藏占比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3232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39.2%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754880" y="2688336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2688336"/>
            <a:ext cx="54864" cy="7132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2761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评论占比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32320" y="276148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4754880" y="3529584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0" y="3529584"/>
            <a:ext cx="54864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36027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📤 分享占比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132320" y="360273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4754880" y="4572000"/>
            <a:ext cx="4023360" cy="36576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45902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收藏率高(39%)说明内容具有教程保存价值，应强化步骤化干货内容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4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2D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时间规律分析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32004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最佳发布时段  ·  黄金时间窗口  ·  发布节奏优化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时间分析 · 最佳发布时段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960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时段排名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126480" y="1325880"/>
            <a:ext cx="2834640" cy="658368"/>
          </a:xfrm>
          <a:prstGeom prst="rect">
            <a:avLst/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7220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0" y="1380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17-18时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165506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黄金时段 · 平均20,982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126480" y="210312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2194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3680" y="21579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19时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83680" y="243230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白银时段 · 平均11,204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26480" y="288036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2971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83680" y="29352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10时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83680" y="320954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铜牌时段 · 平均4,572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26480" y="365760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749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583680" y="3712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22时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83680" y="398678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深夜时段 · 平均3,479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4572000"/>
            <a:ext cx="8686800" cy="438912"/>
          </a:xfrm>
          <a:prstGeom prst="roundRect">
            <a:avLst>
              <a:gd name="adj" fmla="val 20833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59028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建议：优先在17-19时发布（曝光均值是其他时段2-6倍），其次10时；避开14-15时（表现最差）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5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TOP榜单 · 三维分析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38404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曝光量TOP5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27432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52704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1508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不穿的毛衣剪两刀变袜套 (41,826)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2084832"/>
            <a:ext cx="27432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21945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" y="21762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美甲吸灰器做缝纫机吸灰器 (34,093)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752344"/>
            <a:ext cx="27432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286207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" y="28437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3分钟搞定春日布艺小花 (20,790)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341985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52958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" y="351129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布艺标记工具笔分享 (18,190)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4087368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419709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" y="41788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新手邪修裁布之找平滑枕头 (15,429)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914400"/>
            <a:ext cx="2743200" cy="384048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点击率TOP5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1417320"/>
            <a:ext cx="27432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152704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84448" y="1508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嘿嘿嘿找个书童架线 (20.6%)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2084832"/>
            <a:ext cx="27432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21945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84448" y="21762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对于新手很不友好的裁布 (17.7%)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2752344"/>
            <a:ext cx="27432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286207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84448" y="28437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不穿的毛衣变袜套 (17.2%)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341985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352958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84448" y="351129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布艺标记工具笔分享 (16.0%)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0" y="4087368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73552" y="419709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584448" y="41788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新手邪修裁布找枕头 (15.3%)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72200" y="914400"/>
            <a:ext cx="27432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涨粉TOP5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72200" y="1417320"/>
            <a:ext cx="27432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152704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556248" y="1508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ins风杯垫详细做法 (+26)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2084832"/>
            <a:ext cx="27432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21945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556248" y="21762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3分钟搞定春日布艺小花 (+15)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72200" y="2752344"/>
            <a:ext cx="274320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45352" y="286207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56248" y="28437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布艺标记工具笔分享 (+10)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72200" y="341985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45352" y="352958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556248" y="351129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半小时搞定手腕枕 (+10)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72200" y="4087368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45352" y="419709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556248" y="41788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蝴蝶6032怎么钉扣子 (+9)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TOP榜单 · 标题规律拆解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4206240" cy="54864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98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 时间承诺型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4416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标题中含具体时间数字，给用户明确预期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5636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代表：3分钟搞定春日布艺小花 · 10分钟手搓一条毛巾 · 30分钟搞定手腕枕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295144"/>
            <a:ext cx="3840480" cy="246888"/>
          </a:xfrm>
          <a:prstGeom prst="roundRect">
            <a:avLst>
              <a:gd name="adj" fmla="val 29630"/>
            </a:avLst>
          </a:prstGeom>
          <a:solidFill>
            <a:srgbClr val="F5F5F5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04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平均曝光 18,337 | 高出均值334%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60120"/>
            <a:ext cx="4206240" cy="54864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698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🔰  新手友好型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34416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含"新手/小白/适合入门"等降门槛词汇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15636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代表：小白也能轻松上手 · 适合新手入门 · 新手邪修裁布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295144"/>
            <a:ext cx="3840480" cy="246888"/>
          </a:xfrm>
          <a:prstGeom prst="roundRect">
            <a:avLst>
              <a:gd name="adj" fmla="val 29630"/>
            </a:avLst>
          </a:prstGeom>
          <a:solidFill>
            <a:srgbClr val="F5F5F5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304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平均涨粉 9.3人 | 高出均值326%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880360"/>
            <a:ext cx="42062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900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♻  改造实用型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26440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旧物改造、废物利用，传递节约与创意价值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4838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代表：不穿的毛衣剪两刀 · 买了个美甲吸灰器 · 旧毛衣改造把手套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215384"/>
            <a:ext cx="3840480" cy="246888"/>
          </a:xfrm>
          <a:prstGeom prst="roundRect">
            <a:avLst>
              <a:gd name="adj" fmla="val 29630"/>
            </a:avLst>
          </a:prstGeom>
          <a:solidFill>
            <a:srgbClr val="F5F5F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2245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点击率均值 15.3% | 高出平均55%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8803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880360"/>
            <a:ext cx="4206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900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❗  感叹号情绪型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326440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多用感叹号制造惊喜感，增强情绪张力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34838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代表：太可爱了吧！ · 快来学！ · 有救啦！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4215384"/>
            <a:ext cx="3840480" cy="246888"/>
          </a:xfrm>
          <a:prstGeom prst="roundRect">
            <a:avLst>
              <a:gd name="adj" fmla="val 29630"/>
            </a:avLst>
          </a:prstGeom>
          <a:solidFill>
            <a:srgbClr val="F5F5F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2245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TOP10笔记中8篇含感叹号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优化建议 · 数据驱动策略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73152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锁定17-19时发布窗口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行动方案：将每周发布时间统一调整到17-19时黄金窗口，单次发布预期曝光可提升至11,000-21,000+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0" y="1261872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F8F8F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27101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数据依据：17-18时平均曝光20,982，是14-15时的14倍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现状痛点：14-15时发布占比20%，但曝光仅1,412-1,490，严重拖低均值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2240280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240280"/>
            <a:ext cx="73152" cy="1188720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3172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教程类视频优先"新手入门"角度切入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26791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行动方案：80%视频以"新手能学会的XX教程"为角度策划；标题必须包含时间承诺（X分钟）+降门槛词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2587752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F8F8F8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5968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数据依据：涨粉TOP10中7篇含时间词+新手词组合，平均涨粉12.1人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29900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现状痛点：含"新手/小白/入门"关键词的笔记平均涨粉9.3人，是其他类型的4.3倍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3566160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566160"/>
            <a:ext cx="73152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576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 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强化"旧物改造"系列化内容策略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40050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行动方案：建立"旧物改造"固定IP系列，每周至少1篇，主打"0成本创意"差异化标签，覆盖毛衣/牛仔/棉布等品类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913632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F8F8F8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39227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数据依据：改造系列TOP3均进曝光榜，均值34,369，收藏率是普通内容2倍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" y="43159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现状痛点：改造类内容均值曝光高出整体均值200%，但占比只有15%，严重低配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行动计划 · 下阶段目标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697480" cy="6400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月均曝光目标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 4,221  →  目标 8,000+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60120"/>
            <a:ext cx="2697480" cy="64008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14173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月均涨粉目标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691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 16  →  目标 30+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960120"/>
            <a:ext cx="269748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14173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视频比例目标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691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 75%  →  目标 90%+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30天执行路线图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26080"/>
            <a:ext cx="1005840" cy="402336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2608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298094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梳理现有内容库，规划"旧物改造"系列4个主题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401568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401568"/>
            <a:ext cx="1005840" cy="402336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0156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345643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调整所有发布时间至17-19时；测试新标题公式（时间+新手+感叹号）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877056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877056"/>
            <a:ext cx="1005840" cy="40233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87705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393192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发布"旧物改造"系列首篇；收集数据对比改版前后变化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352544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352544"/>
            <a:ext cx="1005840" cy="4023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35254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71600" y="440740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数据复盘：曝光均值是否提升；调整策略并规划下月内容日历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数据是镜子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照出过去，照亮未来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6576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视频是增粉主引擎，视频涨粉效率是图文36倍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黄金发布窗口：17-19时，曝光均值是低谷时段14倍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4670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爆款标题公式：时间承诺 + 新手友好 + 改造价值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8561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目标：月均曝光8,000+，月均涨粉30+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布艺手工小红书运营复盘报告  ·  2025.10 - 2026.04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2026-04-15T14:19:06Z</dcterms:created>
  <dcterms:modified xsi:type="dcterms:W3CDTF">2026-04-15T14:19:06Z</dcterms:modified>
</cp:coreProperties>
</file>